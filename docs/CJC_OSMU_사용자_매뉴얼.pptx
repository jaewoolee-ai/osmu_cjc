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A227"/>
                </a:solidFill>
                <a:latin typeface="맑은 고딕"/>
              </a:rPr>
              <a:t>CJC COOPERATIVE · KINOPIECE — ADMIN &amp; 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씨제이씨협동조합 OSMU 워크벤치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</a:rPr>
              <a:t>관리자·사용자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5EDD7"/>
                </a:solidFill>
                <a:latin typeface="맑은 고딕"/>
              </a:rPr>
              <a:t>API 키 등록부터 SEO 키워드 고르기·유지, 일상 사용법과 주의사항까지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1005840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5EDD7"/>
                </a:solidFill>
                <a:latin typeface="맑은 고딕"/>
              </a:rPr>
              <a:t>홈페이지 atumkorea.com · 네이버 블로그 jwl1722 · 대표 02-6396-3388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828E"/>
                </a:solidFill>
                <a:latin typeface="맑은 고딕"/>
              </a:rPr>
              <a:t>앱 실행: python flet_app/main.py (또는 빌드된 Windows 실행 파일)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556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09728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1005840" cy="402336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389888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3262B"/>
                </a:solidFill>
                <a:latin typeface="맑은 고딕"/>
              </a:rPr>
              <a:t>① 설치와 초기 설정 — setup.exe · 키 3종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288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설치 프로그램으로 설치하고, LLM 1개 + 네이버 API 2개를 한 번만 등록합니다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111556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109728" cy="1143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926080"/>
            <a:ext cx="1005840" cy="402336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2608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핵심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670048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3262B"/>
                </a:solidFill>
                <a:latin typeface="맑은 고딕"/>
              </a:rPr>
              <a:t>② SEO 키워드 새로 고르기와 수치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1089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이 매뉴얼의 심장부: 씨앗→발굴→측정→판정→적용, 그리고 30일마다 숫자 재기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111556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40480"/>
            <a:ext cx="109728" cy="1143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206240"/>
            <a:ext cx="1005840" cy="402336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일상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50208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3262B"/>
                </a:solidFill>
                <a:latin typeface="맑은 고딕"/>
              </a:rPr>
              <a:t>③ 매일 쓰는 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8912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워크벤치·뉴스·브랜드 킷·네이버 게시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20640"/>
            <a:ext cx="111556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120640"/>
            <a:ext cx="109728" cy="11430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5486400"/>
            <a:ext cx="1005840" cy="402336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안전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30368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23262B"/>
                </a:solidFill>
                <a:latin typeface="맑은 고딕"/>
              </a:rPr>
              <a:t>④ 컴플라이언스·비용·주의사항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6692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의료법 검수, 과금 지점, 함정 모음, FAQ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이 시스템은 무엇을 하나요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611880" cy="265176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3611880" cy="7315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62B"/>
                </a:solidFill>
                <a:latin typeface="맑은 고딕"/>
              </a:rPr>
              <a:t>① 한 번 쓰고 네 채널로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3262B"/>
                </a:solidFill>
                <a:latin typeface="맑은 고딕"/>
              </a:rPr>
              <a:t>담당자 메모 + 사진만 넣으면 네이버 블로그·인스타 캡션·X 스레드·쇼츠 자막을 AI가 한 번에 만듭니다.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265176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62B"/>
                </a:solidFill>
                <a:latin typeface="맑은 고딕"/>
              </a:rPr>
              <a:t>② 의료법 자동 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3262B"/>
                </a:solidFill>
                <a:latin typeface="맑은 고딕"/>
              </a:rPr>
              <a:t>맞춤가발 업종 기준(치료·완치 약속 금지)으로 금기어 자동 치환 + AI 법무 검토를 모든 초안에 적용합니다.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54480"/>
            <a:ext cx="3611880" cy="265176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54480"/>
            <a:ext cx="3611880" cy="73152"/>
          </a:xfrm>
          <a:prstGeom prst="rect">
            <a:avLst/>
          </a:prstGeom>
          <a:solidFill>
            <a:srgbClr val="7F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62B"/>
                </a:solidFill>
                <a:latin typeface="맑은 고딕"/>
              </a:rPr>
              <a:t>③ 내 컴퓨터에만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3262B"/>
                </a:solidFill>
                <a:latin typeface="맑은 고딕"/>
              </a:rPr>
              <a:t>클라우드 없이 로컬 SQLite에 저장됩니다. API 키는 AES-256-GCM 암호화, 데이터는 이 PC를 떠나지 않습니다.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80560"/>
            <a:ext cx="11155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이미 채워져 있는 조합 데이터 (🧵 브랜드 킷 화면 기준)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핵심 팩트 14개(2014년 설립·ATUM 24개 센서·10분 스캔·7~10일 배송·KOTITI 수치 등) · SEO 키워드 14개 · 금기어 12쌍 · 우수 글 샘플 2개 · 네이비·골드 테마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전체 사용 흐름 — 1회 설정 + 반복 루틴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852160"/>
                <a:gridCol w="256032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할 일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주기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⚙️ 초기 설정 (1회)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LLM 키 1개 + 네이버 API 키 2개 등록 · 기본 생성 모델 확인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최초 1회 (약 30분)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🔑 SEO 키워드 새로 고르기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대상 킷 선택 → 씨앗(🪄 추천) → 1~4단계. 4단계 [적용]이 곧 그 킷의 SEO 키워드 교체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처음 1회 · 이후 분기 1회 (30분)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🔄 키워드 수치 유지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[🔄 숫자만 새로 재기] — 목록은 그대로, 만료된 수치만 다시 측정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30일마다 (5분)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✍️ 일상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메모+사진 → 초안 생성 → 검수 → 네이버 게시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수시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F6B7A"/>
                </a:solidFill>
                <a:latin typeface="맑은 고딕"/>
              </a:rPr>
              <a:t>키 없이도 글쓰기·게시는 전부 됩니다. 키가 필요한 것은 '어떤 키워드로 써야 검색에 잘 걸릴지'를 데이터로 판단하는 SEO 키워드 새로 고르기와 수치 유지뿐입니다.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① 설치와 초기 설정 · 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setup.exe로 설치하기 — 업데이트도 같은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02920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71600"/>
            <a:ext cx="10652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44475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최신 설치 파일 받기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55648"/>
            <a:ext cx="10287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github.com/JaewooLee-AI/OSMU_cjc/releases/latest 에서 OSMU-CJC-Setup-v0.1.N.zip을 받습니다. (카카오톡으로 받아도 같은 파일입니다)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502920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13432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313432"/>
            <a:ext cx="10652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38658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압축 풀고 setup.exe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97480"/>
            <a:ext cx="10287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zip 안에는 설치 파일 하나만 있습니다. 'Windows의 PC 보호' 화면이 뜨면 [추가 정보] → [실행]을 누르세요 (서명 인증서가 없는 설치 파일이라 처음에 한 번 뜹니다).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55264"/>
            <a:ext cx="502920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55264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255264"/>
            <a:ext cx="10652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32841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관리자 승인 →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39312"/>
            <a:ext cx="10287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C:\Program Files\OSMU CJC 에 설치되고, 바탕화면과 시작 메뉴에 '씨제이씨협동조합 OSMU 워크벤치' 아이콘이 생깁니다.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97096"/>
            <a:ext cx="502920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97096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197096"/>
            <a:ext cx="106527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27024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업데이트도 똑같이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581144"/>
            <a:ext cx="10287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새 버전의 setup.exe를 실행하면 같은 자리에 덮어씁니다. 켜져 있는 앱은 자동으로 닫힙니다. '설치된 앱' 목록에는 항상 하나만 남습니다.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212080"/>
            <a:ext cx="11155680" cy="105156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035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3262B"/>
                </a:solidFill>
                <a:latin typeface="맑은 고딕"/>
              </a:rPr>
              <a:t>데이터는 설치 폴더가 아니라 %APPDATA%\OSMU_CJC 에 있습니다 — 브랜드 킷·글·사진·API 키·네이버 로그인이 재설치·업데이트·제거 후에도 그대로 남습니다. 예전 zip(폴더째 실행) 버전을 쓰던 PC는 그 폴더를 지우고 setup.exe로 설치하면 같은 데이터로 이어집니다.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① 초기 설정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LLM 벤더 등록 — 글쓰기 AI 연결하기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828E"/>
                </a:solidFill>
                <a:latin typeface="맑은 고딕"/>
              </a:rPr>
              <a:t>⚙️ 설정 → 🔑 LLM 벤더 탭. 카드 3종 중 쓰는 것 하나만 등록하면 됩니다.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108960"/>
                <a:gridCol w="53035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벤더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기본 모델명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✨ Google Gemini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gemini-2.5-flash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이미지 분석 기본 벤더 — 사진 토큰 단가가 가장 낮음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🤖 OpenAI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gpt-4o-mini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범용, 안정적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🧠 Anthropic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claude-sonnet-4-5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장문·톤앤매너 반영에 강함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50292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160520"/>
            <a:ext cx="106527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3367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모델명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4456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기본값 그대로 두면 됩니다. 바꾸려면 카드의 모델명 칸을 고치세요.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10912"/>
            <a:ext cx="50292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10912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010912"/>
            <a:ext cx="106527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08406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[연결 테스트 · 저장] 클릭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9496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실제로 모델을 한 번 호출해보고, 성공하면 그 자리에서 암호화 저장됩니다.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61304"/>
            <a:ext cx="50292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61304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5861304"/>
            <a:ext cx="106527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93445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기본 생성 모델 자동 지정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24535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테스트에 성공한 벤더가 바로 기본값이 됩니다. 별도 지정 버튼은 없습니다.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① 초기 설정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저장됐는지 확인하는 법 — 꼭 읽어주세요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E8B57"/>
                </a:solidFill>
                <a:latin typeface="맑은 고딕"/>
              </a:rPr>
              <a:t>정상 저장 시 카드에 이렇게 표시됩니다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62B"/>
                </a:solidFill>
                <a:latin typeface="맑은 고딕"/>
              </a:rPr>
              <a:t>✅ 등록됨 ****9999 · 2026-09-18 11:21 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23262B"/>
                </a:solidFill>
                <a:latin typeface="맑은 고딕"/>
              </a:rPr>
              <a:t>▪ 비밀번호 입력칸은 보안상 저장 후에도 항상 비어 보입니다 — 비어 있는 게 정상입니다.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판정은 배지로 하세요: '✅ 등록됨 + 키 끝 4자리 + 저장 시각'이 보이면 저장된 것입니다.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같은 배지가 네이버 API HUB·검색광고 API 칸에도 뜹니다.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저장은 DB 라운드트립으로 검증済 — 배지가 보이면 다음날 와도 그대로 있습니다.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키를 바꾸려면 새 키를 입력하고 [연결 테스트 · 저장]을 다시 누르면 덮어씁니다.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[🗑️]는 키 삭제입니다. 기본 모델이던 벤더를 지우면 남은 벤더로 자동 승계됩니다.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① 초기 설정 · 네이버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NAVER API HUB 발급 — 경쟁도 조사용 (유료)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828E"/>
                </a:solidFill>
                <a:latin typeface="맑은 고딕"/>
              </a:rPr>
              <a:t>용도: 특정 키워드로 이미 올라온 블로그 글이 몇 개인지 세는 '경쟁도 조사'에만 씁니다.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55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console.ncloud.com 로그인 (네이버 클라우드 플랫폼 계정 — 없으면 새로 가입)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042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Menu &gt; All Services &gt; Application Services &gt; NAVER API HUB &gt; Subscription → 약관 동의 (종량제라 결제수단 등록 필요)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3464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529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Application &gt; [Application 등록] — API 카테고리에서 검색(블로그·뉴스·카페)과 Data Lab을 모두 선택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8328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01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목록에서 [인증 정보] → X-NCP-APIGW-API-KEY-ID(Client ID), X-NCP-APIGW-API-KEY(Client Secret) 복사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3192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502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[한도 및 알림]에서 일·월 상한과 70%/90% 알림 설정 (권장) + 앱의 일일 호출 상한(기본 500회)도 방어선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11155680" cy="68580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188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C0392B"/>
                </a:solidFill>
                <a:latin typeface="맑은 고딕"/>
              </a:rPr>
              <a:t>⚠️ developers.naver.com의 키는 여기서 동작하지 않습니다 (인증 헤더가 다른 별개 서비스). 반드시 위 절차로 새로 발급하세요.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A828E"/>
                </a:solidFill>
                <a:latin typeface="맑은 고딕"/>
              </a:rPr>
              <a:t>💡 "요청한 API가 이 Application에서 활성화되어 있지 않습니다" 오류 → 3번의 API 선택이 빠진 것. 콘솔에서 [Application 수정]으로 검색·Data Lab을 체크하세요.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① 초기 설정 · 네이버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검색광고 API 발급 — 검색량·연관키워드용 (무료)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828E"/>
                </a:solidFill>
                <a:latin typeface="맑은 고딕"/>
              </a:rPr>
              <a:t>용도: 정확한 월간 검색량 조회 + 연관키워드 대량 발굴. 완전 무료, 호출 상한과 무관합니다.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55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searchad.naver.com 회원가입 — 개인·개인사업자·법인 모두 가능, 광고 집행 불필요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042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로그인 후 우측 상단 [광고시스템] 클릭 → manage.searchad.naver.com 진입 (메인 화면엔 '도구' 탭이 없음)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3464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529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상단 도구 &gt; API 사용 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8328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01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[네이버 검색광고 API 서비스 신청] 클릭 — 심사 없이 약관 동의만으로 즉시 발급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31920"/>
            <a:ext cx="457200" cy="457200"/>
          </a:xfrm>
          <a:prstGeom prst="round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502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CUSTOMER_ID(7자리 숫자) · 액세스라이선스(01000000...) · 비밀키(AQAAAA...) 세 값 복사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11155680" cy="68580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188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2F6B7A"/>
                </a:solidFill>
                <a:latin typeface="맑은 고딕"/>
              </a:rPr>
              <a:t>💡 계정 책임자(마스터) 계정으로 로그인해야 키가 보입니다. 키가 안 보이면 아직 서비스 신청 전(4번)인 경우가 많습니다.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A828E"/>
                </a:solidFill>
                <a:latin typeface="맑은 고딕"/>
              </a:rPr>
              <a:t>앱 입력 위치: ⚙️ 설정 → 🔍 네이버 API 탭 하단 '검색광고 API (광고주센터)' → 세 칸 입력 후 [연결 테스트 · 저장]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① 초기 설정 ·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두 키를 등록하면 열리는 것들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23262B"/>
                </a:solidFill>
                <a:latin typeface="맑은 고딕"/>
              </a:rPr>
              <a:t>▪ 🔑 SEO 키워드 새로 고르기와 🔄 수치 유지가 활성화됩니다.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키가 없을 때는 경고 한 줄만 보이고 [1~4단계]·[숫자만 새로 재기] 버튼이 잠겨 있습니다.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등록 후에는 버튼이 활성화되고, 오늘 호출·남은 호출·캐시 통계 카드가 표시됩니다.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23262B"/>
                </a:solidFill>
                <a:latin typeface="맑은 고딕"/>
              </a:rPr>
              <a:t>▪ [🪄 브랜드에서 추천]은 LLM 키가 있어야 동작합니다 (네이버 키와 별개).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9496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8B57"/>
                </a:solidFill>
                <a:latin typeface="맑은 고딕"/>
              </a:rPr>
              <a:t>키 없이도 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초안 생성·4채널 카피·컴플라이언스 검수 (LLM 키만 있으면)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뉴스 큐레이션 — 평소엔 직접 조회라 무료, 막히면 API HUB로 자동 전환(유료)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네이버 게시 — 로그인 세션 방식이라 API 키 불필요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브랜드 킷 편집 — 수동으로 키워드 입력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② SEO 키워드 새로 고르기 · 씨앗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씨앗 키워드란 — 그물의 첫 한 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00" b="1">
                <a:solidFill>
                  <a:srgbClr val="23262B"/>
                </a:solidFill>
                <a:latin typeface="맑은 고딕"/>
              </a:rPr>
              <a:t>▪ 씨앗은 그 자체로 쓸 키워드가 아니라, 연관검색어를 최대한 많이 끌어오기 위한 '그물'입니다.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23262B"/>
                </a:solidFill>
                <a:latin typeface="맑은 고딕"/>
              </a:rPr>
              <a:t>▪ 넓을수록 좋습니다. 누구나 아는 순수 카테고리 이름 한 단어, 2~5글자가 적당합니다.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23262B"/>
                </a:solidFill>
                <a:latin typeface="맑은 고딕"/>
              </a:rPr>
              <a:t>▪ 우리 사업의 서로 다른 축에서 5개를 고르세요. 한 축에 몰면 그 축의 연관어만 나옵니다.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54406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8B57"/>
                </a:solidFill>
                <a:latin typeface="맑은 고딕"/>
              </a:rPr>
              <a:t>좋은 씨앗 (예시)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3262B"/>
                </a:solidFill>
                <a:latin typeface="맑은 고딕"/>
              </a:rPr>
              <a:t>'가발' '탈모' '두피케어' '항암' '창업교육'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3262B"/>
                </a:solidFill>
                <a:latin typeface="맑은 고딕"/>
              </a:rPr>
              <a:t>수식어 없는 카테고리 이름 그대로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749039"/>
            <a:ext cx="54406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나쁜 씨앗 (예시)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3262B"/>
                </a:solidFill>
                <a:latin typeface="맑은 고딕"/>
              </a:rPr>
              <a:t>'친환경 가발공정' 'ATUM 3D측정' '키노피스'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3262B"/>
                </a:solidFill>
                <a:latin typeface="맑은 고딕"/>
              </a:rPr>
              <a:t>수식어·브랜드명·전문용어 → 결과가 비어버림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② SEO 키워드 새로 고르기 ·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[🪄 추천]과 4단계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🪄 브랜드에서 추천 — 씨앗 5개를 AI가 대신 골라줍니다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3262B"/>
                </a:solidFill>
                <a:latin typeface="맑은 고딕"/>
              </a:rPr>
              <a:t>LLM(기본 생성 모델)을 씁니다. 실패 메시지가 뜨면 그대로 읽으세요 — 예: '기본 생성 모델이 지정되지 않았습니다' → LLM 탭에서 먼저 등록해야 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109728" cy="86868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1. 후보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889504"/>
            <a:ext cx="1920240" cy="38404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8895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검색광고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79776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연관검색어 대량 발굴 → 검색량 구간 필터 (무료)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93592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93592"/>
            <a:ext cx="109728" cy="86868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2. 경쟁도 조사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831336"/>
            <a:ext cx="192024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83133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API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72160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후보마다 블로그 문서 수 측정 — 유일한 유료 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35424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35424"/>
            <a:ext cx="109728" cy="86868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268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3. 브랜드 판정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773168"/>
            <a:ext cx="1920240" cy="384048"/>
          </a:xfrm>
          <a:prstGeom prst="round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7731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LLM (API 없음)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66344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우리 브랜드에 맞는 것만 AI가 판정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477256"/>
            <a:ext cx="11155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477256"/>
            <a:ext cx="109728" cy="86868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68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4. 적용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5715000"/>
            <a:ext cx="192024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57150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</a:rPr>
              <a:t>API 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60527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이 순간 고른 킷의 SEO 키워드가 바뀝니다 + 새 키워드 측정까지 완료 — 따로 할 일 없음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② SEO 키워드 새로 고르기 · 실제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먼저 '키워드 작업 대상 킷'을 고릅니다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820" y="1626108"/>
            <a:ext cx="7025640" cy="3847643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aver_kw_00_target_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4208"/>
            <a:ext cx="6949440" cy="37714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37160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⚙️ 설정 → 🔍 네이버 API → 🧵 키워드 작업 대상 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9164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23262B"/>
                </a:solidFill>
                <a:latin typeface="맑은 고딕"/>
              </a:rPr>
              <a:t>▪ 브랜드 킷이 여러 개면, 키워드 작업 전에 어느 킷의 키워드를 고칠지 고릅니다.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아래 '새로 고르기 1~4단계'·'사업 분야 추가'·'수치 유지'·'진단'이 모두 고른 킷에만 반영됩니다.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진행 중인 단계도 킷마다 따로 기억합니다 — 다른 킷으로 바꿨다 돌아와도 이어서 할 수 있습니다.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검색량·문서 수 측정값은 킷끼리 함께 써서, 같은 키워드에 호출이 두 번 나가지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② SEO 키워드 새로 고르기 · 실제 화면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씨앗 입력 → 1단계 · 후보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820" y="1626108"/>
            <a:ext cx="5425440" cy="2888742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aver_kw_01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4208"/>
            <a:ext cx="5349240" cy="28125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3716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위 🔑 새로 고르기(씨앗→1~4단계), 아래 🔄 수치 유지 — 처음엔 [1단계]부터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5540" y="1626108"/>
            <a:ext cx="5425440" cy="3626663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aver_kw_02_stage1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64208"/>
            <a:ext cx="5349240" cy="35504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13716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1단계 실행 후 — 후보 507개 발견, [2단계] 버튼이 새로 나타남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무료 단계입니다 — 눌러도 과금되지 않습니다. 씨앗은 브랜드 이름이 아니라 실제 검색어여야 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② SEO 키워드 새로 고르기 · 실제 화면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2단계 · 경쟁도 조사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7980" y="1626108"/>
            <a:ext cx="6477000" cy="4386712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aver_kw_03_stage2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64208"/>
            <a:ext cx="6400800" cy="4310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26080" y="13716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키워드별 검색량 · 경쟁 문서 수 · 점수가 표로 나옵니다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검색량이 높고 점수가 낮을수록(경쟁이 약할수록) 좋은 키워드입니다.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이 단계가 유일하게 유료 API HUB 호출을 씁니다.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표 아래로 스크롤하면 [3단계] 버튼이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② SEO 키워드 새로 고르기 · 실제 화면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3단계 · 브랜드 판정 → 4단계 ·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820" y="1626108"/>
            <a:ext cx="5425440" cy="3775894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aver_kw_04_stage3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4208"/>
            <a:ext cx="5349240" cy="36996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3716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AI가 구매 직결/잠재 고객/사업 부문별로 분류 — '='는 기존 유지, '+'는 신규 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5540" y="1626108"/>
            <a:ext cx="5425440" cy="3636098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aver_kw_05_stage34_ap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64208"/>
            <a:ext cx="5349240" cy="35598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13716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제외된 키워드는 체크박스로 되살릴 수 있음 — [4단계 · 적용]을 눌러야 실제로 반영됨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2B"/>
                </a:solidFill>
                <a:latin typeface="맑은 고딕"/>
              </a:rPr>
              <a:t>⚠️ 여기서 [4단계 · 적용]을 누르기 전까지는 고른 킷의 SEO 키워드가 전혀 바뀌지 않습니다. 결과는 그 킷에만 반영됩니다.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② 🔄 키워드 수치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30일마다 5분 · 분기 30분 · 캐시 30일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406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3A5C"/>
                </a:solidFill>
                <a:latin typeface="맑은 고딕"/>
              </a:rPr>
              <a:t>30일마다 — [🔄 숫자만 새로 재기]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4983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키워드 목록은 그대로 두고 만료된 검색량·경쟁도만 다시 잽니다. 살아 있는 값은 캐시에서 읽어 호출 0회 — 과금되는 것은 만료분뿐입니다. 4단계 [적용] 직후에는 누를 필요가 없습니다(버튼이 '전부 최신 · 0회'로 잠겨 있음).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406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3A5C"/>
                </a:solidFill>
                <a:latin typeface="맑은 고딕"/>
              </a:rPr>
              <a:t>분기 — 🔑 SEO 키워드 새로 고르기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983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씨앗부터 다시 발굴해 키워드 목록 자체를 교체합니다. 조사할 후보 수(기본 100개)가 곧 최대 유료 호출 수 — 넓힐수록 좋은 키워드를 찾을 확률이 오릅니다.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26280"/>
            <a:ext cx="11155680" cy="160020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⚠️ 만료는 조용히 일어납니다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47488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에러도 멈춤도 없이 '전환 가중치'가 꺼지고 단순 등장 횟수로만 순위가 매겨집니다. 브랜드 킷·설정 화면에 '경쟁도 측정 만료' 경고가 뜨면 [숫자만 새로 재기]를 눌러주세요.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워크벤치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새 콘텐츠 만들기 —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0292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71600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44475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➕ 새 콘텐츠 → 🧵 킷 고르기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556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빈 초안이 만들어집니다(빈 초안이 있으면 재사용). 맨 위에서 이 글의 사업 분야 킷을 고르세요 — 다른 분야 킷을 고르면 그 분야 내용이 섞입니다.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59152"/>
            <a:ext cx="50292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59152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359152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4323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담당자 메모 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432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'초안의 씨앗'. 현장 일화·고객 반응을 자유롭게 — 예: '가발창업교육 5기 모집, ATUM 시연에 40대 관심 집중'.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0292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46704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346704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41985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공지·제품 정보 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3075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날짜·가격·주문 방법처럼 AI가 지어내면 안 되는 값은 별도 칸에. 예: 장소 '서초 본점', 문의 '02-6396-3388'.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34256"/>
            <a:ext cx="50292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34256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334256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40740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사진 첨부 → 🪄 초안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1830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네이버 본문·인스타 캡션·X 스레드·쇼츠 자막이 한 번에 생성됩니다. 같은 사진 재사용은 분석 토큰 0.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21808"/>
            <a:ext cx="50292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21808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5321808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39496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편집 → 시뮬레이터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05856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4개 탭에서 직접 고치고, 우측에서 실제 레이아웃(인스타 125자 절단선·쇼츠 데드존 등)으로 검증.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워크벤치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SNS 자동 검증 &amp; 다시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828E"/>
                </a:solidFill>
                <a:latin typeface="맑은 고딕"/>
              </a:rPr>
              <a:t>초안 생성 직후 인스타·X·쇼츠·발행 태그는 길이·해시태그·인증 표현을 자동으로 점검·정리합니다.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4068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3A5C"/>
                </a:solidFill>
                <a:latin typeface="맑은 고딕"/>
              </a:rPr>
              <a:t>📸 인스타그램 · 🐦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'더보기' 전 노출 범위(앞 125자·최대 2줄) 초과 시 경고, 해시태그는 8~15개로 자동 보정.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X는 한글 1자를 2로 세는 실제 기준(최대 280)으로 자동 분할 — 시뮬레이터도 같은 기준.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4068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3A5C"/>
                </a:solidFill>
                <a:latin typeface="맑은 고딕"/>
              </a:rPr>
              <a:t>🎬 쇼츠 · 🏷️ 발행 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컷 자막이 20자를 넘으면 경고하고, 제목에는 #shorts를 자동으로 붙입니다.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발행 태그는 7~12개로 정리하고, 모자라면 이 글의 타깃 키워드로 채웁니다.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1155680" cy="118872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📣 본문을 고친 뒤에는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인스타·X·쇼츠·발행 태그는 '수정 전 본문 기준'으로 표시됩니다 — 워크벤치의 [📣 SNS 3채널 다시 만들기]를 눌러 최신 본문에 맞게 다시 만드세요. 인증 범위를 넘겨 쓴 문장은 자동 삭제되고, 맞춤법은 세 채널을 한 번에 교정합니다.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뉴스와 게시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뉴스 큐레이션 &amp; 네이버 게시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3A5C"/>
                </a:solidFill>
                <a:latin typeface="맑은 고딕"/>
              </a:rPr>
              <a:t>📰 뉴스 큐레이션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위에서 고른 킷의 SEO 키워드로 관련 기사를 찾아 [워크벤치로 전달]합니다. 전달한 글도 그 킷으로 연결됩니다.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23262B"/>
                </a:solidFill>
                <a:latin typeface="맑은 고딕"/>
              </a:rPr>
              <a:t>▪ Google 뉴스 RSS + 네이버 뉴스 직접 조회가 기본입니다. 조회가 막히면 등록된 네이버 API HUB 키로 자동 전환되고(유료), 오늘 호출에 집계됩니다.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뉴스 기반 글은 본문 끝에 원문 링크가 자동으로 붙습니다.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추가 검색어 예시: '탈모 관리, 항암가발 지원, 소상공인 창업교육'.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3A5C"/>
                </a:solidFill>
                <a:latin typeface="맑은 고딕"/>
              </a:rPr>
              <a:t>🚀 네이버 게시 (반자동)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① [네이버 로그인]으로 세션 저장 → ② [지금 게시] → Chrome 자동 입력.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23262B"/>
                </a:solidFill>
                <a:latin typeface="맑은 고딕"/>
              </a:rPr>
              <a:t>▪ ③ 마지막 [발행] 클릭은 항상 사람이 직접 — 봇 차단을 피하기 위한 설계입니다.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직접 붙여넣어 발행했다면 [✅ 수동으로 완료]로 목록을 정리하세요.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인스타/X/쇼츠는 자동 게시가 없어 [📄 콘텐츠 보기]에서 복사해 직접 올립니다.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572000"/>
            <a:ext cx="11155680" cy="137160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게시 대상 블로그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3262B"/>
                </a:solidFill>
                <a:latin typeface="맑은 고딕"/>
              </a:rPr>
              <a:t>현재 blog.naver.com/jwl1722 로 연결됩니다. 바꾸려면 🧵 브랜드 킷 아래쪽 '회사 공통'의 '네이버 블로그 아이디'를 고치세요. 카드마다 어느 킷으로 쓴 글인지 표시됩니다.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브랜드 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🧵 브랜드 킷 — 사업 분야별로 여러 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41248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섹션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무엇을 하나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🧵 킷 목록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[➕ 새 킷 만들기](맨 위 '기본' 킷 복사) · 📄 복제 · 이름 변경 · 🗑️ 삭제(아래 '삭제한 킷'에서 되살리기). 개수 제한 없음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✏️ 킷 편집 — 업종·페르소나·톤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이 킷의 사업 분야와 말투. 킷마다 따로 저장 ([킷 저장])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✏️ 킷 편집 — 핵심 팩트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이 글과 관련 있을 때만 0~2개 인용(최근 글과 반복 안 함). 여기 없는 수치·인증은 AI가 지어내지 않음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✏️ 킷 편집 — 용어집·모드·샘플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표기 통일 + 교정 보호 / 기본 콘텐츠 모드 / 우수 포스팅 샘플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✏️ 킷 편집 — SEO 키워드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이 킷 분야의 키워드만. 제목·본문 배치 대상 + 전환 가중치 + 검색 타깃 여부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🏢 회사 공통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조합명·키노피스·홈페이지·블로그 ID·인스타 + 🛡️ 가드레일 + 🚫 금기어 사전 — 모든 킷에 적용 ([회사 공통 저장])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누르면 바로 그 글로 — 대시보드와 게시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13232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누르는 곳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일어나는 일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소재 대기·생성 중·초안·게시 대기 칸의 글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워크벤치로 이동해 그 글이 열린 상태로 보입니다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통계 카드 (작업 중·초안 완료·게시 완료)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그 상태의 글만 아래 상태판에 남깁니다. 같은 카드를 다시 누르면 전체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게시 완료 칸의 글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저장된 네이버 글 주소가 있으면 브라우저로 그 글을 엽니다 (없으면 워크벤치)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'이번 달 AI 비용' 카드 · 노란 띠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등록한 단가로 계산한 이번 달 금액(추정). 월 예산의 70%·90%를 넘으면 안내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빨간 띠 '예정일이 지났는데…'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발행 예정일이 지났는데 게시되지 않은 글 수 — 📅 캘린더에서 확인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4709160"/>
            <a:ext cx="11155680" cy="137160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1888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글 주소는 자동으로도 남습니다: 🚀 네이버 게시의 [지금 게시]로 연 Chrome 창에서 [발행]을 누르면, 창이 글 화면으로 바뀌는 것을 보고 주소를 저장하고 '게시 완료'로 바꿉니다. 손으로 올렸다면 [✅ 수동으로 완료] 옆 칸에 주소를 붙여 넣으세요. 게시 완료 탭에서 나중에 고칠 수도 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📅 캘린더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이번 주에 무엇을 올릴지 — 캘린더 · 주제 목록 · 자동 작성 예약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0292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502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25880"/>
            <a:ext cx="106527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39903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발행 예정일 정하기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09928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워크벤치 맨 위 [발행 예정일]에 날짜를 넣거나(📅 버튼으로 달력 선택), 캘린더의 빈 날짜를 눌러 새 글을 만듭니다.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31136"/>
            <a:ext cx="50292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31136"/>
            <a:ext cx="502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231136"/>
            <a:ext cx="106527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30428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상태 색으로 한눈에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15184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회색 소재 대기 · 파랑 생성 중 · 노랑 초안 · 주황 게시 대기 · 초록 게시 완료 · 빨강 실패. 예정일이 지난 글은 ⚠️와 빨간 테두리.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36392"/>
            <a:ext cx="50292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36392"/>
            <a:ext cx="502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136392"/>
            <a:ext cx="106527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20954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옮기기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520440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칩을 다른 날짜로 끌어 놓거나, 칩의 📅 버튼으로 날짜를 고릅니다. 칩을 누르면 워크벤치에서 그 글이 열립니다.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41648"/>
            <a:ext cx="50292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41648"/>
            <a:ext cx="502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041648"/>
            <a:ext cx="106527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11480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주제 목록 · 반복 규칙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25696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오른쪽에 '쓸 주제'를 쌓아 두고 [글로 만들기]. '매주 화요일 · 킷 · 모드' 규칙을 추가하면 앞으로 4주의 빈 자리가 생깁니다.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46904"/>
            <a:ext cx="502920" cy="84124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946904"/>
            <a:ext cx="502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946904"/>
            <a:ext cx="106527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02005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자동 작성 예약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330952"/>
            <a:ext cx="10287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워크벤치 [자동 작성 예약]을 켜고 날짜·시각을 정하면, 앱이 켜져 있을 때 그 시각에 초안을 만듭니다. 발행은 사람이 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89788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897880"/>
            <a:ext cx="109728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자동 작성은 앱이 켜져 있을 때만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37336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PC나 앱이 꺼져 있던 동안 지난 예약은 다음에 앱을 켤 때 만듭니다. 메모(또는 뉴스 기사)가 없는 글은 '실패'로 남습니다.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🎨 원고 서식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굵게·형광·소제목·인용구·구분선·요약 박스가 들어간 원고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23262B"/>
                </a:solidFill>
                <a:latin typeface="맑은 고딕"/>
              </a:rPr>
              <a:t>▪ 🧵 브랜드 킷 → 🎨 원고 서식에서 킷마다 템플릿(기본형·정보형·후기형)과 기본 강도를 정합니다.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워크벤치에서 글마다 강도(사용 안 함·최소·표준·풍부)를 바꿀 수 있습니다.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서식은 초안을 쓰는 같은 AI 호출에서 함께 만들어져 비용이 거의 늘지 않습니다.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오른쪽 네이버 미리보기에 서식이 입혀져 보이고, '🎨 서식' 목록에서 하나씩 지우거나 굵게↔형광, 인용구·구분선 모양을 바꿉니다.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예전 글은 [🎨 서식 적용]으로 재생성 없이 서식만 입힙니다 — 본문 글자는 바뀌지 않습니다.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본문 편집창에 **굵게** ==형광== ## 소제목 &gt; 인용 --- 를 직접 써서 저장해도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4206240"/>
          </a:xfrm>
          <a:prstGeom prst="rect">
            <a:avLst/>
          </a:prstGeom>
          <a:solidFill>
            <a:srgbClr val="F5E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62B"/>
                </a:solidFill>
                <a:latin typeface="맑은 고딕"/>
              </a:rPr>
              <a:t>네이버에 올릴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3262B"/>
                </a:solidFill>
                <a:latin typeface="맑은 고딕"/>
              </a:rPr>
              <a:t>[지금 게시]가 서식이 담긴 본문을 붙여 넣습니다. 굵게·형광·소제목·목록은 그대로 들어갑니다.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3262B"/>
                </a:solidFill>
                <a:latin typeface="맑은 고딕"/>
              </a:rPr>
              <a:t>인용구·구분선·요약 박스는 에디터가 자기 서식으로 바꾸지 못하면 글자로 들어갈 수 있습니다 — 게시 화면에 안내가 뜨면 ⚙️ 설정 → 📣 생성 채널의 '네이버 서식 붙여넣기'를 '기호로 대체'로 바꾸세요.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3262B"/>
                </a:solidFill>
                <a:latin typeface="맑은 고딕"/>
              </a:rPr>
              <a:t>인용구 모양(따옴표형·선형 등)은 네이버 에디터에서 인용구를 한 번 눌러 고릅니다(자동으로 누르지 않음).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3262B"/>
                </a:solidFill>
                <a:latin typeface="맑은 고딕"/>
              </a:rPr>
              <a:t>빨간 '📷 사진 자리'는 초안 뒤에 사진을 올리면 그 자리에 차례로 들어갑니다. 남은 표시는 발행 전에 지워 주세요.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컴플라이언스 검수는 서식 없는 본문 그대로 합니다. 교정으로 문장이 바뀌어 자리를 잃은 서식은 빠지고, 미리보기에 그 개수가 표시됩니다.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④ 안전 · AI 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토큰을 금액으로 — 단가 표 · 환율 · 월 예산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02920" cy="9144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71600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44475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단가 넣기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5564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⚙️ 설정 → 📈 사용량 → 단가 표. 모델마다 100만 토큰당 입력·출력 단가(USD)를 [공식 가격 보기]에서 확인해 넣습니다. 기본값은 없습니다.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59152"/>
            <a:ext cx="502920" cy="9144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59152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359152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43230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환율·월 예산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432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환율(기본 1,400원 — 실제 환율로 고치기)과 월 예산(원)을 저장하면 70%·90%에서 대시보드·워크벤치에 안내합니다.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46704"/>
            <a:ext cx="502920" cy="914400"/>
          </a:xfrm>
          <a:prstGeom prst="rect">
            <a:avLst/>
          </a:prstGeom>
          <a:solidFill>
            <a:srgbClr val="2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46704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346704"/>
            <a:ext cx="106527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419856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어디서 보나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3075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사용량 탭: 오늘·이번 달·전체 누적, 글 1건당 평균, 벤더·모델별 표. 워크벤치: 초안마다 '이 글 생성 비용 약 ○○원'.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34840"/>
            <a:ext cx="11155680" cy="164592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44568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표시 금액은 예산 참고용 추정값입니다 — 실제 청구는 각 벤더 콘솔에서 확인하세요. 금액은 호출할 때의 단가로 계산해 저장하므로 단가를 바꿔도 지난 금액은 그대로입니다. 단가가 없는 모델의 호출은 0원이 아니라 '단가 미등록'으로 따로 셉니다. 처음 단가를 넣으면 그 모델의 지난 기록을 이 단가로 한 번 채웁니다. 글별 비용은 이 기능을 넣은 뒤의 기록부터 정확합니다.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③ 매일 쓰는 법 · 📦 데이터 옮기기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담당자 PC가 여러 대일 때 — 세팅을 파일 하나로 나눠 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02920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371600"/>
            <a:ext cx="106527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44475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기준 PC에서 내보내기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55648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⚙️ 설정 → 📦 데이터 옮기기. 옮길 항목을 고르고(브랜드 킷 · 회사 공통·앱 설정 · API 키 · AI 단가 · 키워드 측정값 · 제목 이력) [📤 파일로 내보내기] → .osmu 파일 저장. API 키를 넣으면 6자 이상 비밀번호를 정합니다.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04871"/>
            <a:ext cx="502920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04871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404871"/>
            <a:ext cx="106527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478023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파일과 비밀번호 전달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88919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파일은 카카오톡·메일로, 비밀번호는 전화·대면 등 다른 경로로 알려 주세요. 파일+비밀번호가 있으면 키를 쓸 수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38142"/>
            <a:ext cx="502920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38142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438142"/>
            <a:ext cx="106527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511294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62B"/>
                </a:solidFill>
                <a:latin typeface="맑은 고딕"/>
              </a:rPr>
              <a:t>받는 PC에서 가져오기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22190"/>
            <a:ext cx="10287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[📂 .osmu 파일 열기] → 항목마다 '무엇이 바뀌는지'를 확인하고 고른 뒤 [📥 이 PC에 가져오기]. 브랜드 킷은 이름으로 맞춰 같은 이름이면 내용을 바꾸고, 없으면 새로 만듭니다.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1155680" cy="160020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받는 PC의 글·사진·캘린더 일정·게시 기록·AI 사용 기록·네이버 로그인은 바뀌지 않습니다(네이버 로그인은 PC마다 한 번씩). 가져오기 직전의 DB는 데이터 폴더의 backups에 자동으로 복사됩니다(최근 5개). 비밀번호가 틀리면 아무것도 바뀌지 않습니다. PC를 통째로 바꿀 때는 앱을 닫고 %APPDATA%\OSMU_CJC 폴더 전체를 새 PC의 같은 자리에 복사하세요.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④ 안전 · 컴플라이언스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의료법 제56조 + 표시·광고법 — 치료 약속 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828E"/>
                </a:solidFill>
                <a:latin typeface="맑은 고딕"/>
              </a:rPr>
              <a:t>조합은 의료기관·의약품이 아닙니다. 가발은 '스타일 보완 수단'으로만 서술해야 합니다. 2단 방어: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23262B"/>
                </a:solidFill>
                <a:latin typeface="맑은 고딕"/>
              </a:rPr>
              <a:t>▪ 1단 — 금기어 사전이 발행 전 100% 자동 치환합니다.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2단 — LLM 법무 검토관이 맥락 위반을 잡아 점수·지적·교정본을 냅니다.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23262B"/>
                </a:solidFill>
                <a:latin typeface="맑은 고딕"/>
              </a:rPr>
              <a:t>▪ 인스타·X도 별개 텍스트라 같은 감사를 거칩니다.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737360"/>
          <a:ext cx="56692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금기어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자동 치환어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탈모 완치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두피 환경 개선 및 스타일 보완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탈모 치료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맞춤가발 스타일 보완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모발 영구 재생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건강한 두피 관리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부작용 제로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안전성 검증 완료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병원 치료 대체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전문 케어 및 스타일링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+ 외 7쌍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3262B"/>
                          </a:solidFill>
                          <a:latin typeface="맑은 고딕"/>
                        </a:rPr>
                        <a:t>브랜드 킷 화면에서 전체 확인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1148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C0392B"/>
                </a:solidFill>
                <a:latin typeface="맑은 고딕"/>
              </a:rPr>
              <a:t>⚠️ 실제 서비스 전 법무 검토를 권장합니다.</a:t>
            </a:r>
          </a:p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C0392B"/>
                </a:solidFill>
                <a:latin typeface="맑은 고딕"/>
              </a:rPr>
              <a:t>가드레일은 템플릿이지 법률 자문이 아닙니다.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④ 안전 · 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어디서 돈이 나가나 — 과금 지점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108960"/>
                <a:gridCol w="420624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지점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방어선</a:t>
                      </a:r>
                    </a:p>
                  </a:txBody>
                  <a:tcPr>
                    <a:solidFill>
                      <a:srgbClr val="122A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LLM 초안·감사·추천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선택한 벤더 요금제 종량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필요한 호출만 — 실패는 재시도 전 확인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경쟁도 조사 (API HUB)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유료 종량 (유일한 네이버 과금점)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앱 일일 상한 기본 500회 + NCP 콘솔 알림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검색량·연관키워드 (검색광고)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무료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없음 — 몇 번을 눌러도 과금 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뉴스·게시·사진 재사용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무료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3262B"/>
                          </a:solidFill>
                          <a:latin typeface="맑은 고딕"/>
                        </a:rPr>
                        <a:t>사진 캐시로 재분석 토큰 0</a:t>
                      </a:r>
                    </a:p>
                  </a:txBody>
                  <a:tcPr marL="101600" marR="101600" marT="50800" marB="50800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4754880"/>
            <a:ext cx="11155680" cy="1280160"/>
          </a:xfrm>
          <a:prstGeom prst="rect">
            <a:avLst/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F6B7A"/>
                </a:solidFill>
                <a:latin typeface="맑은 고딕"/>
              </a:rPr>
              <a:t>⚙️ 설정 → 📈 사용량 탭에서 실제 usage(프로바이더 응답값) 기준으로 쓴 만큼과, 단가를 넣으면 금액(추정)까지 확인됩니다. 네이버 호출 수·남은 호출·캐시 현황은 🔍 네이버 API 탭의 통계 카드에서 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④ 안전 · 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함정 모음 — 먼저 알면 안 헷갈립니다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9875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04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비밀번호 칸이 비어 보여도 저장된 게 맞다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보안상 키는 절대 다시 보여주지 않습니다. '✅ 등록됨 ****뒷4자리 · 저장 시각' 배지로 확인하세요.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96312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96312"/>
            <a:ext cx="109728" cy="9875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6946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키 없이 눌렀을 때 증상 3종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3522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'기본 생성 모델이 지정되지 않았습니다'(🪄 추천) · [1~4단계]·[숫자만 새로 재기] 버튼 잠김 · 경쟁도 만료 경고 — 모두 키 등록으로 해결.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75304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75304"/>
            <a:ext cx="109728" cy="9875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4845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만료는 조용히 일어난다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14216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에러 없이 전환 가중치만 꺼집니다. '경쟁도 측정 만료' 문구가 보이면 [숫자만 새로 재기].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54296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654296"/>
            <a:ext cx="109728" cy="9875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2744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[발행]은 사람이 직접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9320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자동으로 발행까지 가지 않는 것은 고장이 아니라 네이버 차단 회피 설계입니다.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733288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733288"/>
            <a:ext cx="109728" cy="9875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80644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62B"/>
                </a:solidFill>
                <a:latin typeface="맑은 고딕"/>
              </a:rPr>
              <a:t>%APPDATA%\OSMU_CJC 폴더를 함부로 지우지 말기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172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A828E"/>
                </a:solidFill>
                <a:latin typeface="맑은 고딕"/>
              </a:rPr>
              <a:t>DB·사진·마스터키가 전부 안에 있습니다(앱을 제거해도 남는 이유). 브랜드 킷을 처음부터 다시 채울 때만 삭제 후 재시작하세요.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A5C"/>
                </a:solidFill>
                <a:latin typeface="맑은 고딕"/>
              </a:rPr>
              <a:t>④ 안전 ·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씨제이씨협동조합 OSMU 워크벤치 · 관리자·사용자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A828E"/>
                </a:solidFill>
                <a:latin typeface="맑은 고딕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2A44"/>
                </a:solidFill>
                <a:latin typeface="맑은 고딕"/>
              </a:rPr>
              <a:t>Q. [🪄 브랜드에서 추천]이 실패해요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62B"/>
                </a:solidFill>
                <a:latin typeface="맑은 고딕"/>
              </a:rPr>
              <a:t>A. '추천 실패: ...' 뒤의 메시지가 원인입니다. 대부분 LLM 미등록 → LLM 탭에서 키 등록 후 기본 모델 확인.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78024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5117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2A44"/>
                </a:solidFill>
                <a:latin typeface="맑은 고딕"/>
              </a:rPr>
              <a:t>Q. 키를 저장했는데 칸이 비어 있어요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62B"/>
                </a:solidFill>
                <a:latin typeface="맑은 고딕"/>
              </a:rPr>
              <a:t>A. 정상입니다. 배지(✅ 등록됨 ****...)로 확인하세요. 바꾸려면 새 키 입력 후 다시 [연결 테스트 · 저장].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38728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2A44"/>
                </a:solidFill>
                <a:latin typeface="맑은 고딕"/>
              </a:rPr>
              <a:t>Q. 4단계 적용 후에 [숫자만 새로 재기]를 또 눌러야 하나요?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959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62B"/>
                </a:solidFill>
                <a:latin typeface="맑은 고딕"/>
              </a:rPr>
              <a:t>A. 아니요. 4단계 [적용]이 곧 SEO 키워드 교체이고, 새 키워드 측정까지 같이 끝냅니다. 숫자 재기는 30일 뒤 만료 경고가 뜰 때만.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99432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725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2A44"/>
                </a:solidFill>
                <a:latin typeface="맑은 고딕"/>
              </a:rPr>
              <a:t>Q. 경쟁도 만료 경고가 떠요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566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62B"/>
                </a:solidFill>
                <a:latin typeface="맑은 고딕"/>
              </a:rPr>
              <a:t>A. [🔄 숫자만 새로 재기]를 누르세요. 캐시가 살아있는 값은 재과금되지 않습니다.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60136"/>
            <a:ext cx="111556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332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2A44"/>
                </a:solidFill>
                <a:latin typeface="맑은 고딕"/>
              </a:rPr>
              <a:t>Q. 브랜드 킷을 고쳤는데 앱에 안 바껴요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173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3262B"/>
                </a:solidFill>
                <a:latin typeface="맑은 고딕"/>
              </a:rPr>
              <a:t>A. 킷 값은 [킷 저장], 계정·금기어는 [회사 공통 저장]을 눌렀는지, 워크벤치에서 그 킷을 골랐는지 확인하세요. 저장은 다음 생성부터 반영됩니다.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맑은 고딕"/>
              </a:rPr>
              <a:t>더 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참고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5EDD7"/>
                </a:solidFill>
                <a:latin typeface="맑은 고딕"/>
              </a:rPr>
              <a:t>▪ README.md — 아키텍처와 설계 이유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5EDD7"/>
                </a:solidFill>
                <a:latin typeface="맑은 고딕"/>
              </a:rPr>
              <a:t>▪ HANDOFF.md — 구축 보고 (앱 📋 구축 보고서 페이지에서도 열람)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F5EDD7"/>
                </a:solidFill>
                <a:latin typeface="맑은 고딕"/>
              </a:rPr>
              <a:t>▪ 문의: 씨제이씨협동조합 02-6396-3388 · cjc@cjccoop.com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