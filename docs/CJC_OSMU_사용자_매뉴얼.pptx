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C9A227"/>
                </a:solidFill>
                <a:latin typeface="맑은 고딕"/>
              </a:rPr>
              <a:t>CJC COOPERATIVE · KINOPIECE — ADMIN &amp; USER MANUAL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94560"/>
            <a:ext cx="105156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 i="0">
                <a:solidFill>
                  <a:srgbClr val="FFFFFF"/>
                </a:solidFill>
                <a:latin typeface="맑은 고딕"/>
              </a:rPr>
              <a:t>씨제이씨협동조합 OSMU 워크벤치</a:t>
            </a:r>
          </a:p>
          <a:p>
            <a:pPr algn="l">
              <a:lnSpc>
                <a:spcPct val="115000"/>
              </a:lnSpc>
            </a:pPr>
            <a:r>
              <a:rPr sz="3800" b="1" i="0">
                <a:solidFill>
                  <a:srgbClr val="FFFFFF"/>
                </a:solidFill>
                <a:latin typeface="맑은 고딕"/>
              </a:rPr>
              <a:t>관리자·사용자 매뉴얼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947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F5EDD7"/>
                </a:solidFill>
                <a:latin typeface="맑은 고딕"/>
              </a:rPr>
              <a:t>API 키 등록부터 SEO 키워드 고르기·유지, 일상 사용법과 주의사항까지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709160"/>
            <a:ext cx="1005840" cy="508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02920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F5EDD7"/>
                </a:solidFill>
                <a:latin typeface="맑은 고딕"/>
              </a:rPr>
              <a:t>홈페이지 atumkorea.com · 네이버 블로그 jwl1722 · 대표 02-6396-3388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0350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7A828E"/>
                </a:solidFill>
                <a:latin typeface="맑은 고딕"/>
              </a:rPr>
              <a:t>앱 실행: python flet_app/main.py (또는 빌드된 Windows 실행 파일)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목차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80160"/>
            <a:ext cx="11155680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280160"/>
            <a:ext cx="109728" cy="1143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1645920"/>
            <a:ext cx="1005840" cy="402336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45920"/>
            <a:ext cx="1005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준비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1389888"/>
            <a:ext cx="8778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23262B"/>
                </a:solidFill>
                <a:latin typeface="맑은 고딕"/>
              </a:rPr>
              <a:t>① 초기 설정 — 키 3종 등록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1828800"/>
            <a:ext cx="8778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LLM 1개 + 네이버 API 2개. 한 번만 하면 됩니다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560320"/>
            <a:ext cx="11155680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2560320"/>
            <a:ext cx="109728" cy="1143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77240" y="2926080"/>
            <a:ext cx="1005840" cy="402336"/>
          </a:xfrm>
          <a:prstGeom prst="round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2926080"/>
            <a:ext cx="1005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핵심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2670048"/>
            <a:ext cx="8778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23262B"/>
                </a:solidFill>
                <a:latin typeface="맑은 고딕"/>
              </a:rPr>
              <a:t>② SEO 키워드 새로 고르기와 수치 유지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3108960"/>
            <a:ext cx="8778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이 매뉴얼의 심장부: 씨앗→발굴→측정→판정→적용, 그리고 30일마다 숫자 재기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840480"/>
            <a:ext cx="11155680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3840480"/>
            <a:ext cx="109728" cy="1143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77240" y="4206240"/>
            <a:ext cx="1005840" cy="402336"/>
          </a:xfrm>
          <a:prstGeom prst="round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206240"/>
            <a:ext cx="1005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일상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3950208"/>
            <a:ext cx="8778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23262B"/>
                </a:solidFill>
                <a:latin typeface="맑은 고딕"/>
              </a:rPr>
              <a:t>③ 매일 쓰는 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1680" y="4389120"/>
            <a:ext cx="8778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워크벤치·뉴스·브랜드 킷·네이버 게시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120640"/>
            <a:ext cx="11155680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5120640"/>
            <a:ext cx="109728" cy="114300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77240" y="5486400"/>
            <a:ext cx="1005840" cy="402336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5486400"/>
            <a:ext cx="1005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안전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11680" y="5230368"/>
            <a:ext cx="8778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23262B"/>
                </a:solidFill>
                <a:latin typeface="맑은 고딕"/>
              </a:rPr>
              <a:t>④ 컴플라이언스·비용·주의사항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5669280"/>
            <a:ext cx="8778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의료법 검수, 과금 지점, 함정 모음, FAQ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이 시스템은 무엇을 하나요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554480"/>
            <a:ext cx="3611880" cy="2651760"/>
          </a:xfrm>
          <a:prstGeom prst="rect">
            <a:avLst/>
          </a:prstGeom>
          <a:solidFill>
            <a:srgbClr val="F5E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3611880" cy="73152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28800"/>
            <a:ext cx="3154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3262B"/>
                </a:solidFill>
                <a:latin typeface="맑은 고딕"/>
              </a:rPr>
              <a:t>① 한 번 쓰고 네 채널로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377440"/>
            <a:ext cx="3200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3262B"/>
                </a:solidFill>
                <a:latin typeface="맑은 고딕"/>
              </a:rPr>
              <a:t>담당자 메모 + 사진만 넣으면 네이버 블로그·인스타 캡션·X 스레드·쇼츠 자막을 AI가 한 번에 만듭니다.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1554480"/>
            <a:ext cx="3611880" cy="2651760"/>
          </a:xfrm>
          <a:prstGeom prst="rect">
            <a:avLst/>
          </a:prstGeom>
          <a:solidFill>
            <a:srgbClr val="F5E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554480"/>
            <a:ext cx="3611880" cy="73152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1828800"/>
            <a:ext cx="3154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3262B"/>
                </a:solidFill>
                <a:latin typeface="맑은 고딕"/>
              </a:rPr>
              <a:t>② 의료법 자동 검수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377440"/>
            <a:ext cx="3200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3262B"/>
                </a:solidFill>
                <a:latin typeface="맑은 고딕"/>
              </a:rPr>
              <a:t>맞춤가발 업종 기준(치료·완치 약속 금지)으로 금기어 자동 치환 + AI 법무 검토를 모든 초안에 적용합니다.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83880" y="1554480"/>
            <a:ext cx="3611880" cy="2651760"/>
          </a:xfrm>
          <a:prstGeom prst="rect">
            <a:avLst/>
          </a:prstGeom>
          <a:solidFill>
            <a:srgbClr val="E4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3880" y="1554480"/>
            <a:ext cx="3611880" cy="73152"/>
          </a:xfrm>
          <a:prstGeom prst="rect">
            <a:avLst/>
          </a:prstGeom>
          <a:solidFill>
            <a:srgbClr val="7FB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0" y="1828800"/>
            <a:ext cx="3154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3262B"/>
                </a:solidFill>
                <a:latin typeface="맑은 고딕"/>
              </a:rPr>
              <a:t>③ 내 컴퓨터에만 저장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2377440"/>
            <a:ext cx="3200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3262B"/>
                </a:solidFill>
                <a:latin typeface="맑은 고딕"/>
              </a:rPr>
              <a:t>클라우드 없이 로컬 SQLite에 저장됩니다. API 키는 AES-256-GCM 암호화, 데이터는 이 PC를 떠나지 않습니다.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480560"/>
            <a:ext cx="111556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61772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이미 채워져 있는 조합 데이터 (🧵 브랜드 킷 화면 기준)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02920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핵심 팩트 14개(2014년 설립·ATUM 24개 센서·10분 스캔·7~10일 배송·KOTITI 수치 등) · SEO 키워드 14개 · 금기어 12쌍 · 우수 글 샘플 2개 · 네이비·골드 테마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전체 사용 흐름 — 1회 설정 + 반복 루틴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417320"/>
          <a:ext cx="111556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5852160"/>
                <a:gridCol w="2560320"/>
              </a:tblGrid>
              <a:tr h="658368"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할 일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주기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⚙️ 초기 설정 (1회)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LLM 키 1개 + 네이버 API 키 2개 등록 · 기본 생성 모델 확인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최초 1회 (약 30분)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🔑 SEO 키워드 새로 고르기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대상 킷 선택 → 씨앗(🪄 추천) → 1~4단계. 4단계 [적용]이 곧 그 킷의 SEO 키워드 교체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처음 1회 · 이후 분기 1회 (30분)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🔄 키워드 수치 유지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[🔄 숫자만 새로 재기] — 목록은 그대로, 만료된 수치만 다시 측정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30일마다 (5분)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✍️ 일상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메모+사진 → 초안 생성 → 검수 → 네이버 게시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수시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02920" y="4937760"/>
            <a:ext cx="11155680" cy="1097280"/>
          </a:xfrm>
          <a:prstGeom prst="rect">
            <a:avLst/>
          </a:prstGeom>
          <a:solidFill>
            <a:srgbClr val="E4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07492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2F6B7A"/>
                </a:solidFill>
                <a:latin typeface="맑은 고딕"/>
              </a:rPr>
              <a:t>키 없이도 글쓰기·게시는 전부 됩니다. 키가 필요한 것은 '어떤 키워드로 써야 검색에 잘 걸릴지'를 데이터로 판단하는 SEO 키워드 새로 고르기와 수치 유지뿐입니다.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① 초기 설정 · 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LLM 벤더 등록 — 글쓰기 AI 연결하기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7A828E"/>
                </a:solidFill>
                <a:latin typeface="맑은 고딕"/>
              </a:rPr>
              <a:t>⚙️ 설정 → 🔑 LLM 벤더 탭. 카드 3종 중 쓰는 것 하나만 등록하면 됩니다.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737360"/>
          <a:ext cx="111556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108960"/>
                <a:gridCol w="530352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벤더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기본 모델명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특징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✨ Google Gemini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gemini-2.5-flash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이미지 분석 기본 벤더 — 사진 토큰 단가가 가장 낮음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🤖 OpenAI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gpt-4o-mini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범용, 안정적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🧠 Anthropic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claude-sonnet-4-5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장문·톤앤매너 반영에 강함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502920" y="4160520"/>
            <a:ext cx="502920" cy="7772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4160520"/>
            <a:ext cx="502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4160520"/>
            <a:ext cx="1065276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4233672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모델명 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4544568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기본값 그대로 두면 됩니다. 바꾸려면 카드의 모델명 칸을 고치세요.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5010912"/>
            <a:ext cx="502920" cy="7772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5010912"/>
            <a:ext cx="502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05840" y="5010912"/>
            <a:ext cx="1065276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88720" y="5084064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[연결 테스트 · 저장] 클릭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5394960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실제로 모델을 한 번 호출해보고, 성공하면 그 자리에서 암호화 저장됩니다.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861304"/>
            <a:ext cx="502920" cy="7772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5861304"/>
            <a:ext cx="502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05840" y="5861304"/>
            <a:ext cx="1065276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88720" y="5934456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기본 생성 모델 자동 지정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6245352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테스트에 성공한 벤더가 바로 기본값이 됩니다. 별도 지정 버튼은 없습니다.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① 초기 설정 · 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저장됐는지 확인하는 법 — 꼭 읽어주세요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05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11155680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81328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E8B57"/>
                </a:solidFill>
                <a:latin typeface="맑은 고딕"/>
              </a:rPr>
              <a:t>정상 저장 시 카드에 이렇게 표시됩니다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847088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3262B"/>
                </a:solidFill>
                <a:latin typeface="맑은 고딕"/>
              </a:rPr>
              <a:t>✅ 등록됨 ****9999 · 2026-09-18 11:21 저장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651760"/>
            <a:ext cx="11155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50" b="1">
                <a:solidFill>
                  <a:srgbClr val="23262B"/>
                </a:solidFill>
                <a:latin typeface="맑은 고딕"/>
              </a:rPr>
              <a:t>▪ 비밀번호 입력칸은 보안상 저장 후에도 항상 비어 보입니다 — 비어 있는 게 정상입니다.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50" b="0">
                <a:solidFill>
                  <a:srgbClr val="23262B"/>
                </a:solidFill>
                <a:latin typeface="맑은 고딕"/>
              </a:rPr>
              <a:t>▪ 판정은 배지로 하세요: '✅ 등록됨 + 키 끝 4자리 + 저장 시각'이 보이면 저장된 것입니다.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50" b="0">
                <a:solidFill>
                  <a:srgbClr val="23262B"/>
                </a:solidFill>
                <a:latin typeface="맑은 고딕"/>
              </a:rPr>
              <a:t>▪ 같은 배지가 네이버 API HUB·검색광고 API 칸에도 뜹니다.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50" b="0">
                <a:solidFill>
                  <a:srgbClr val="23262B"/>
                </a:solidFill>
                <a:latin typeface="맑은 고딕"/>
              </a:rPr>
              <a:t>▪ 저장은 DB 라운드트립으로 검증済 — 배지가 보이면 다음날 와도 그대로 있습니다.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50" b="0">
                <a:solidFill>
                  <a:srgbClr val="23262B"/>
                </a:solidFill>
                <a:latin typeface="맑은 고딕"/>
              </a:rPr>
              <a:t>▪ 키를 바꾸려면 새 키를 입력하고 [연결 테스트 · 저장]을 다시 누르면 덮어씁니다.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50" b="0">
                <a:solidFill>
                  <a:srgbClr val="23262B"/>
                </a:solidFill>
                <a:latin typeface="맑은 고딕"/>
              </a:rPr>
              <a:t>▪ [🗑️]는 키 삭제입니다. 기본 모델이던 벤더를 지우면 남은 벤더로 자동 승계됩니다.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F6B7A"/>
                </a:solidFill>
                <a:latin typeface="맑은 고딕"/>
              </a:rPr>
              <a:t>① 초기 설정 · 네이버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NAVER API HUB 발급 — 경쟁도 조사용 (유료)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7A828E"/>
                </a:solidFill>
                <a:latin typeface="맑은 고딕"/>
              </a:rPr>
              <a:t>용도: 특정 키워드로 이미 올라온 블로그 글이 몇 개인지 세는 '경쟁도 조사'에만 씁니다.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737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175564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console.ncloud.com 로그인 (네이버 클라우드 플랫폼 계정 — 없으면 새로 가입)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28600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30428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Menu &gt; All Services &gt; Application Services &gt; NAVER API HUB &gt; Subscription → 약관 동의 (종량제라 결제수단 등록 필요)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3464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285292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Application &gt; [Application 등록] — API 카테고리에서 검색(블로그·뉴스·카페)과 Data Lab을 모두 선택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38328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3832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40156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목록에서 [인증 정보] → X-NCP-APIGW-API-KEY-ID(Client ID), X-NCP-APIGW-API-KEY(Client Secret) 복사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93192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3931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395020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[한도 및 알림]에서 일·월 상한과 70%/90% 알림 설정 (권장) + 앱의 일일 호출 상한(기본 500회)도 방어선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709160"/>
            <a:ext cx="11155680" cy="685800"/>
          </a:xfrm>
          <a:prstGeom prst="rect">
            <a:avLst/>
          </a:prstGeom>
          <a:solidFill>
            <a:srgbClr val="E4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818888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 i="0">
                <a:solidFill>
                  <a:srgbClr val="C0392B"/>
                </a:solidFill>
                <a:latin typeface="맑은 고딕"/>
              </a:rPr>
              <a:t>⚠️ developers.naver.com의 키는 여기서 동작하지 않습니다 (인증 헤더가 다른 별개 서비스). 반드시 위 절차로 새로 발급하세요.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5321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7A828E"/>
                </a:solidFill>
                <a:latin typeface="맑은 고딕"/>
              </a:rPr>
              <a:t>💡 "요청한 API가 이 Application에서 활성화되어 있지 않습니다" 오류 → 3번의 API 선택이 빠진 것. 콘솔에서 [Application 수정]으로 검색·Data Lab을 체크하세요.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F6B7A"/>
                </a:solidFill>
                <a:latin typeface="맑은 고딕"/>
              </a:rPr>
              <a:t>① 초기 설정 · 네이버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검색광고 API 발급 — 검색량·연관키워드용 (무료)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7A828E"/>
                </a:solidFill>
                <a:latin typeface="맑은 고딕"/>
              </a:rPr>
              <a:t>용도: 정확한 월간 검색량 조회 + 연관키워드 대량 발굴. 완전 무료, 호출 상한과 무관합니다.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737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175564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searchad.naver.com 회원가입 — 개인·개인사업자·법인 모두 가능, 광고 집행 불필요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28600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30428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로그인 후 우측 상단 [광고시스템] 클릭 → manage.searchad.naver.com 진입 (메인 화면엔 '도구' 탭이 없음)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3464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285292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상단 도구 &gt; API 사용 관리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38328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3832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40156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[네이버 검색광고 API 서비스 신청] 클릭 — 심사 없이 약관 동의만으로 즉시 발급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93192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3931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395020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CUSTOMER_ID(7자리 숫자) · 액세스라이선스(01000000...) · 비밀키(AQAAAA...) 세 값 복사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709160"/>
            <a:ext cx="11155680" cy="685800"/>
          </a:xfrm>
          <a:prstGeom prst="rect">
            <a:avLst/>
          </a:prstGeom>
          <a:solidFill>
            <a:srgbClr val="E4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818888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 i="0">
                <a:solidFill>
                  <a:srgbClr val="2F6B7A"/>
                </a:solidFill>
                <a:latin typeface="맑은 고딕"/>
              </a:rPr>
              <a:t>💡 계정 책임자(마스터) 계정으로 로그인해야 키가 보입니다. 키가 안 보이면 아직 서비스 신청 전(4번)인 경우가 많습니다.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5321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7A828E"/>
                </a:solidFill>
                <a:latin typeface="맑은 고딕"/>
              </a:rPr>
              <a:t>앱 입력 위치: ⚙️ 설정 → 🔍 네이버 API 탭 하단 '검색광고 API (광고주센터)' → 세 칸 입력 후 [연결 테스트 · 저장]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F6B7A"/>
                </a:solidFill>
                <a:latin typeface="맑은 고딕"/>
              </a:rPr>
              <a:t>① 초기 설정 · 확인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두 키를 등록하면 열리는 것들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23262B"/>
                </a:solidFill>
                <a:latin typeface="맑은 고딕"/>
              </a:rPr>
              <a:t>▪ 🔑 SEO 키워드 새로 고르기와 🔄 수치 유지가 활성화됩니다.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0">
                <a:solidFill>
                  <a:srgbClr val="23262B"/>
                </a:solidFill>
                <a:latin typeface="맑은 고딕"/>
              </a:rPr>
              <a:t>▪ 키가 없을 때는 경고 한 줄만 보이고 [1~4단계]·[숫자만 새로 재기] 버튼이 잠겨 있습니다.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0">
                <a:solidFill>
                  <a:srgbClr val="23262B"/>
                </a:solidFill>
                <a:latin typeface="맑은 고딕"/>
              </a:rPr>
              <a:t>▪ 등록 후에는 버튼이 활성화되고, 오늘 호출·남은 호출·캐시 통계 카드가 표시됩니다.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0">
                <a:solidFill>
                  <a:srgbClr val="23262B"/>
                </a:solidFill>
                <a:latin typeface="맑은 고딕"/>
              </a:rPr>
              <a:t>▪ [🪄 브랜드에서 추천]은 LLM 키가 있어야 동작합니다 (네이버 키와 별개).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371600"/>
            <a:ext cx="5394960" cy="4114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5087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E8B57"/>
                </a:solidFill>
                <a:latin typeface="맑은 고딕"/>
              </a:rPr>
              <a:t>키 없이도 되는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920240"/>
            <a:ext cx="4937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초안 생성·4채널 카피·컴플라이언스 검수 (LLM 키만 있으면)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뉴스 큐레이션 — 평소엔 직접 조회라 무료, 막히면 API HUB로 자동 전환(유료)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네이버 게시 — 로그인 세션 방식이라 API 키 불필요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브랜드 킷 편집 — 수동으로 키워드 입력 가능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② SEO 키워드 새로 고르기 · 씨앗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씨앗 키워드란 — 그물의 첫 한 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1556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100"/>
              </a:spcAft>
            </a:pPr>
            <a:r>
              <a:rPr sz="1300" b="1">
                <a:solidFill>
                  <a:srgbClr val="23262B"/>
                </a:solidFill>
                <a:latin typeface="맑은 고딕"/>
              </a:rPr>
              <a:t>▪ 씨앗은 그 자체로 쓸 키워드가 아니라, 연관검색어를 최대한 많이 끌어오기 위한 '그물'입니다.</a:t>
            </a:r>
          </a:p>
          <a:p>
            <a:pPr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23262B"/>
                </a:solidFill>
                <a:latin typeface="맑은 고딕"/>
              </a:rPr>
              <a:t>▪ 넓을수록 좋습니다. 누구나 아는 순수 카테고리 이름 한 단어, 2~5글자가 적당합니다.</a:t>
            </a:r>
          </a:p>
          <a:p>
            <a:pPr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23262B"/>
                </a:solidFill>
                <a:latin typeface="맑은 고딕"/>
              </a:rPr>
              <a:t>▪ 우리 사업의 서로 다른 축에서 5개를 고르세요. 한 축에 몰면 그 축의 연관어만 나옵니다.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749039"/>
            <a:ext cx="5440680" cy="2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886200"/>
            <a:ext cx="4983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E8B57"/>
                </a:solidFill>
                <a:latin typeface="맑은 고딕"/>
              </a:rPr>
              <a:t>좋은 씨앗 (예시)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297680"/>
            <a:ext cx="49834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3262B"/>
                </a:solidFill>
                <a:latin typeface="맑은 고딕"/>
              </a:rPr>
              <a:t>'가발' '탈모' '두피케어' '항암' '창업교육'</a:t>
            </a:r>
          </a:p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3262B"/>
                </a:solidFill>
                <a:latin typeface="맑은 고딕"/>
              </a:rPr>
              <a:t>수식어 없는 카테고리 이름 그대로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3749039"/>
            <a:ext cx="5440680" cy="2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3886200"/>
            <a:ext cx="4983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C0392B"/>
                </a:solidFill>
                <a:latin typeface="맑은 고딕"/>
              </a:rPr>
              <a:t>나쁜 씨앗 (예시)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4297680"/>
            <a:ext cx="49834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3262B"/>
                </a:solidFill>
                <a:latin typeface="맑은 고딕"/>
              </a:rPr>
              <a:t>'친환경 가발공정' 'ATUM 3D측정' '키노피스'</a:t>
            </a:r>
          </a:p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3262B"/>
                </a:solidFill>
                <a:latin typeface="맑은 고딕"/>
              </a:rPr>
              <a:t>수식어·브랜드명·전문용어 → 결과가 비어버림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② SEO 키워드 새로 고르기 · 실행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[🪄 추천]과 4단계 파이프라인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11155680" cy="1051560"/>
          </a:xfrm>
          <a:prstGeom prst="rect">
            <a:avLst/>
          </a:prstGeom>
          <a:solidFill>
            <a:srgbClr val="F5E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81328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🪄 브랜드에서 추천 — 씨앗 5개를 AI가 대신 골라줍니다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847088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23262B"/>
                </a:solidFill>
                <a:latin typeface="맑은 고딕"/>
              </a:rPr>
              <a:t>LLM(기본 생성 모델)을 씁니다. 실패 메시지가 뜨면 그대로 읽으세요 — 예: '기본 생성 모델이 지정되지 않았습니다' → LLM 탭에서 먼저 등록해야 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651760"/>
            <a:ext cx="1115568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651760"/>
            <a:ext cx="109728" cy="86868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7432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1. 후보 찾기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66160" y="2889504"/>
            <a:ext cx="1920240" cy="384048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66160" y="2889504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검색광고 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2779776"/>
            <a:ext cx="5577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연관검색어 대량 발굴 → 검색량 구간 필터 (무료)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593592"/>
            <a:ext cx="1115568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593592"/>
            <a:ext cx="109728" cy="86868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68503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2. 경쟁도 조사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66160" y="3831336"/>
            <a:ext cx="1920240" cy="384048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6160" y="3831336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API HUB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720" y="3721608"/>
            <a:ext cx="5577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후보마다 블로그 문서 수 측정 — 유일한 유료 단계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535424"/>
            <a:ext cx="1115568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4535424"/>
            <a:ext cx="109728" cy="86868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626864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3. 브랜드 판정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66160" y="4773168"/>
            <a:ext cx="1920240" cy="384048"/>
          </a:xfrm>
          <a:prstGeom prst="roundRect">
            <a:avLst/>
          </a:prstGeom>
          <a:solidFill>
            <a:srgbClr val="7A82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66160" y="4773168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LLM (API 없음)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60720" y="4663440"/>
            <a:ext cx="5577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우리 브랜드에 맞는 것만 AI가 판정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5477256"/>
            <a:ext cx="1115568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5477256"/>
            <a:ext cx="109728" cy="86868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568696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4. 적용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566160" y="5715000"/>
            <a:ext cx="1920240" cy="384048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66160" y="5715000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API HUB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60720" y="5605272"/>
            <a:ext cx="5577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이 순간 고른 킷의 SEO 키워드가 바뀝니다 + 새 키워드 측정까지 완료 — 따로 할 일 없음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② SEO 키워드 새로 고르기 · 실제 화면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씨앗 입력 → 1단계 · 후보 찾기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464820" y="1626108"/>
            <a:ext cx="5425440" cy="2888742"/>
          </a:xfrm>
          <a:prstGeom prst="rect">
            <a:avLst/>
          </a:prstGeom>
          <a:solidFill>
            <a:srgbClr val="7A82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naver_kw_01_st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64208"/>
            <a:ext cx="5349240" cy="281254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1371600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위 🔑 새로 고르기(씨앗→1~4단계), 아래 🔄 수치 유지 — 처음엔 [1단계]부터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5540" y="1626108"/>
            <a:ext cx="5425440" cy="3626663"/>
          </a:xfrm>
          <a:prstGeom prst="rect">
            <a:avLst/>
          </a:prstGeom>
          <a:solidFill>
            <a:srgbClr val="7A82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naver_kw_02_stage1_resu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664208"/>
            <a:ext cx="5349240" cy="355046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63640" y="1371600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1단계 실행 후 — 후보 507개 발견, [2단계] 버튼이 새로 나타남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8064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무료 단계입니다 — 눌러도 과금되지 않습니다. 씨앗은 브랜드 이름이 아니라 실제 검색어여야 합니다.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② SEO 키워드 새로 고르기 · 실제 화면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2단계 · 경쟁도 조사 결과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7980" y="1626108"/>
            <a:ext cx="6477000" cy="4386712"/>
          </a:xfrm>
          <a:prstGeom prst="rect">
            <a:avLst/>
          </a:prstGeom>
          <a:solidFill>
            <a:srgbClr val="7A82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naver_kw_03_stage2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1664208"/>
            <a:ext cx="6400800" cy="43105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926080" y="1371600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키워드별 검색량 · 경쟁 문서 수 · 점수가 표로 나옵니다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371600"/>
            <a:ext cx="2286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검색량이 높고 점수가 낮을수록(경쟁이 약할수록) 좋은 키워드입니다.</a:t>
            </a:r>
          </a:p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이 단계가 유일하게 유료 API HUB 호출을 씁니다.</a:t>
            </a:r>
          </a:p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표 아래로 스크롤하면 [3단계] 버튼이 있습니다.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② SEO 키워드 새로 고르기 · 실제 화면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3단계 · 브랜드 판정 → 4단계 · 적용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64820" y="1626108"/>
            <a:ext cx="5425440" cy="3775894"/>
          </a:xfrm>
          <a:prstGeom prst="rect">
            <a:avLst/>
          </a:prstGeom>
          <a:solidFill>
            <a:srgbClr val="7A82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naver_kw_04_stage3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64208"/>
            <a:ext cx="5349240" cy="369969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1371600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AI가 구매 직결/잠재 고객/사업 부문별로 분류 — '='는 기존 유지, '+'는 신규 추가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5540" y="1626108"/>
            <a:ext cx="5425440" cy="3636098"/>
          </a:xfrm>
          <a:prstGeom prst="rect">
            <a:avLst/>
          </a:prstGeom>
          <a:solidFill>
            <a:srgbClr val="7A82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naver_kw_05_stage34_appl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664208"/>
            <a:ext cx="5349240" cy="355989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63640" y="1371600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제외된 키워드는 체크박스로 되살릴 수 있음 — [4단계 · 적용]을 눌러야 실제로 반영됨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8978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C0392B"/>
                </a:solidFill>
                <a:latin typeface="맑은 고딕"/>
              </a:rPr>
              <a:t>⚠️ 여기서 [4단계 · 적용]을 누르기 전까지는 고른 킷의 SEO 키워드가 전혀 바뀌지 않습니다. 결과는 그 킷에만 반영됩니다.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② 🔄 키워드 수치 유지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30일마다 5분 · 분기 30분 · 캐시 30일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5440680" cy="2926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508760"/>
            <a:ext cx="4983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3A5C"/>
                </a:solidFill>
                <a:latin typeface="맑은 고딕"/>
              </a:rPr>
              <a:t>30일마다 — [🔄 숫자만 새로 재기]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920240"/>
            <a:ext cx="4983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키워드 목록은 그대로 두고 만료된 검색량·경쟁도만 다시 잽니다. 살아 있는 값은 캐시에서 읽어 호출 0회 — 과금되는 것은 만료분뿐입니다. 4단계 [적용] 직후에는 누를 필요가 없습니다(버튼이 '전부 최신 · 0회'로 잠겨 있음).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371600"/>
            <a:ext cx="5440680" cy="2926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508760"/>
            <a:ext cx="4983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3A5C"/>
                </a:solidFill>
                <a:latin typeface="맑은 고딕"/>
              </a:rPr>
              <a:t>분기 — 🔑 SEO 키워드 새로 고르기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920240"/>
            <a:ext cx="4983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씨앗부터 다시 발굴해 키워드 목록 자체를 교체합니다. 조사할 후보 수(기본 100개)가 곧 최대 유료 호출 수 — 넓힐수록 좋은 키워드를 찾을 확률이 오릅니다.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526280"/>
            <a:ext cx="11155680" cy="1600200"/>
          </a:xfrm>
          <a:prstGeom prst="rect">
            <a:avLst/>
          </a:prstGeom>
          <a:solidFill>
            <a:srgbClr val="F5E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C0392B"/>
                </a:solidFill>
                <a:latin typeface="맑은 고딕"/>
              </a:rPr>
              <a:t>⚠️ 만료는 조용히 일어납니다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047488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에러도 멈춤도 없이 '전환 가중치'가 꺼지고 단순 등장 횟수로만 순위가 매겨집니다. 브랜드 킷·설정 화면에 '경쟁도 측정 만료' 경고가 뜨면 [숫자만 새로 재기]를 눌러주세요.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③ 매일 쓰는 법 · 워크벤치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새 콘텐츠 만들기 — 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502920" cy="9144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371600"/>
            <a:ext cx="502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05840" y="1371600"/>
            <a:ext cx="1065276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1444752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➕ 새 콘텐츠 → 🧵 킷 고르기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55648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빈 초안이 만들어집니다(빈 초안이 있으면 재사용). 맨 위에서 이 글의 사업 분야 킷을 고르세요 — 다른 분야 킷을 고르면 그 분야 내용이 섞입니다.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359152"/>
            <a:ext cx="502920" cy="9144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359152"/>
            <a:ext cx="502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2359152"/>
            <a:ext cx="1065276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2432304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담당자 메모 작성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2743200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'초안의 씨앗'. 현장 일화·고객 반응을 자유롭게 — 예: '가발창업교육 5기 모집, ATUM 시연에 40대 관심 집중'.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02920" cy="9144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346704"/>
            <a:ext cx="502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5840" y="3346704"/>
            <a:ext cx="1065276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88720" y="3419856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공지·제품 정보 입력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730752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날짜·가격·주문 방법처럼 AI가 지어내면 안 되는 값은 별도 칸에. 예: 장소 '서초 본점', 문의 '02-6396-3388'.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334256"/>
            <a:ext cx="502920" cy="9144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4334256"/>
            <a:ext cx="502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0" y="4334256"/>
            <a:ext cx="1065276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88720" y="4407408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사진 첨부 → 🪄 초안 생성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4718304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네이버 본문·인스타 캡션·X 스레드·쇼츠 자막이 한 번에 생성됩니다. 같은 사진 재사용은 분석 토큰 0.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5321808"/>
            <a:ext cx="502920" cy="9144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5321808"/>
            <a:ext cx="502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05840" y="5321808"/>
            <a:ext cx="1065276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88720" y="5394960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편집 → 시뮬레이터 확인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88720" y="5705856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4개 탭에서 직접 고치고, 우측에서 실제 레이아웃(인스타 125자 절단선·쇼츠 데드존 등)으로 검증.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③ 매일 쓰는 법 · 워크벤치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SNS 자동 검증 &amp; 다시 만들기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8016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7A828E"/>
                </a:solidFill>
                <a:latin typeface="맑은 고딕"/>
              </a:rPr>
              <a:t>초안 생성 직후 인스타·X·쇼츠·발행 태그는 길이·해시태그·인증 표현을 자동으로 점검·정리합니다.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828800"/>
            <a:ext cx="544068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011680"/>
            <a:ext cx="4983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3A5C"/>
                </a:solidFill>
                <a:latin typeface="맑은 고딕"/>
              </a:rPr>
              <a:t>📸 인스타그램 · 🐦 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377440"/>
            <a:ext cx="4983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'더보기' 전 노출 범위(앞 125자·최대 2줄) 초과 시 경고, 해시태그는 8~15개로 자동 보정.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X는 한글 1자를 2로 세는 실제 기준(최대 280)으로 자동 분할 — 시뮬레이터도 같은 기준.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828800"/>
            <a:ext cx="544068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11680"/>
            <a:ext cx="4983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3A5C"/>
                </a:solidFill>
                <a:latin typeface="맑은 고딕"/>
              </a:rPr>
              <a:t>🎬 쇼츠 · 🏷️ 발행 태그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377440"/>
            <a:ext cx="4983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컷 자막이 20자를 넘으면 경고하고, 제목에는 #shorts를 자동으로 붙입니다.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발행 태그는 7~12개로 정리하고, 모자라면 이 글의 타깃 키워드로 채웁니다.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840480"/>
            <a:ext cx="11155680" cy="1188720"/>
          </a:xfrm>
          <a:prstGeom prst="rect">
            <a:avLst/>
          </a:prstGeom>
          <a:solidFill>
            <a:srgbClr val="F5E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02336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📣 본문을 고친 뒤에는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434840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인스타·X·쇼츠·발행 태그는 '수정 전 본문 기준'으로 표시됩니다 — 워크벤치의 [📣 SNS 3채널 다시 만들기]를 눌러 최신 본문에 맞게 다시 만드세요. 인증 범위를 넘겨 쓴 문장은 자동 삭제되고, 맞춤법은 세 채널을 한 번에 교정합니다.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③ 매일 쓰는 법 · 뉴스와 게시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뉴스 큐레이션 &amp; 네이버 게시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8016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3A5C"/>
                </a:solidFill>
                <a:latin typeface="맑은 고딕"/>
              </a:rPr>
              <a:t>📰 뉴스 큐레이션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5394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위에서 고른 킷의 SEO 키워드로 관련 기사를 찾아 [워크벤치로 전달]합니다. 전달한 글도 그 킷으로 연결됩니다.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1">
                <a:solidFill>
                  <a:srgbClr val="23262B"/>
                </a:solidFill>
                <a:latin typeface="맑은 고딕"/>
              </a:rPr>
              <a:t>▪ Google 뉴스 RSS + 네이버 뉴스 직접 조회가 기본입니다. 조회가 막히면 등록된 네이버 API HUB 키로 자동 전환되고(유료), 오늘 호출에 집계됩니다.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뉴스 기반 글은 본문 끝에 원문 링크가 자동으로 붙습니다.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추가 검색어 예시: '탈모 관리, 항암가발 지원, 소상공인 창업교육'.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128016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3A5C"/>
                </a:solidFill>
                <a:latin typeface="맑은 고딕"/>
              </a:rPr>
              <a:t>🚀 네이버 게시 (반자동)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1691640"/>
            <a:ext cx="5394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① [네이버 로그인]으로 세션 저장 → ② [지금 게시] → Chrome 자동 입력.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1">
                <a:solidFill>
                  <a:srgbClr val="23262B"/>
                </a:solidFill>
                <a:latin typeface="맑은 고딕"/>
              </a:rPr>
              <a:t>▪ ③ 마지막 [발행] 클릭은 항상 사람이 직접 — 봇 차단을 피하기 위한 설계입니다.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직접 붙여넣어 발행했다면 [✅ 수동으로 완료]로 목록을 정리하세요.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인스타/X/쇼츠는 자동 게시가 없어 [📄 콘텐츠 보기]에서 복사해 직접 올립니다.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4572000"/>
            <a:ext cx="11155680" cy="1371600"/>
          </a:xfrm>
          <a:prstGeom prst="rect">
            <a:avLst/>
          </a:prstGeom>
          <a:solidFill>
            <a:srgbClr val="F5E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7548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게시 대상 블로그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120640"/>
            <a:ext cx="10607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현재 blog.naver.com/jwl1722 로 연결됩니다. 바꾸려면 🧵 브랜드 킷 아래쪽 '회사 공통'의 '네이버 블로그 아이디'를 고치세요. 카드마다 어느 킷으로 쓴 글인지 표시됩니다.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③ 매일 쓰는 법 · 브랜드 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🧵 브랜드 킷 — 사업 분야별로 여러 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417320"/>
          <a:ext cx="111556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412480"/>
              </a:tblGrid>
              <a:tr h="653142"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섹션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무엇을 하나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🧵 킷 목록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[➕ 새 킷 만들기](맨 위 '기본' 킷 복사) · 📄 복제 · 이름 변경 · 🗑️ 삭제(아래 '삭제한 킷'에서 되살리기). 개수 제한 없음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✏️ 킷 편집 — 업종·페르소나·톤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이 킷의 사업 분야와 말투. 킷마다 따로 저장 ([킷 저장])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✏️ 킷 편집 — 핵심 팩트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이 글과 관련 있을 때만 0~2개 인용(최근 글과 반복 안 함). 여기 없는 수치·인증은 AI가 지어내지 않음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✏️ 킷 편집 — 용어집·모드·샘플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표기 통일 + 교정 보호 / 기본 콘텐츠 모드 / 우수 포스팅 샘플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✏️ 킷 편집 — SEO 키워드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이 킷 분야의 키워드만. 제목·본문 배치 대상 + 전환 가중치 + 검색 타깃 여부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6531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🏢 회사 공통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조합명·키노피스·홈페이지·블로그 ID·인스타 + 🛡️ 가드레일 + 🚫 금기어 사전 — 모든 킷에 적용 ([회사 공통 저장])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④ 안전 · 컴플라이언스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의료법 제56조 + 표시·광고법 — 치료 약속 금지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7A828E"/>
                </a:solidFill>
                <a:latin typeface="맑은 고딕"/>
              </a:rPr>
              <a:t>조합은 의료기관·의약품이 아닙니다. 가발은 '스타일 보완 수단'으로만 서술해야 합니다. 2단 방어: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737360"/>
            <a:ext cx="5120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1">
                <a:solidFill>
                  <a:srgbClr val="23262B"/>
                </a:solidFill>
                <a:latin typeface="맑은 고딕"/>
              </a:rPr>
              <a:t>▪ 1단 — 금기어 사전이 발행 전 100% 자동 치환합니다.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2단 — LLM 법무 검토관이 맥락 위반을 잡아 점수·지적·교정본을 냅니다.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인스타·X도 별개 텍스트라 같은 감사를 거칩니다.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943600" y="1737360"/>
          <a:ext cx="566928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3017520"/>
              </a:tblGrid>
              <a:tr h="561702"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금기어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자동 치환어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탈모 완치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두피 환경 개선 및 스타일 보완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탈모 치료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맞춤가발 스타일 보완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모발 영구 재생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건강한 두피 관리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부작용 제로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안전성 검증 완료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병원 치료 대체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전문 케어 및 스타일링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6170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+ 외 7쌍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브랜드 킷 화면에서 전체 확인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02920" y="411480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 i="0">
                <a:solidFill>
                  <a:srgbClr val="C0392B"/>
                </a:solidFill>
                <a:latin typeface="맑은 고딕"/>
              </a:rPr>
              <a:t>⚠️ 실제 서비스 전 법무 검토를 권장합니다.</a:t>
            </a:r>
          </a:p>
          <a:p>
            <a:pPr algn="l">
              <a:lnSpc>
                <a:spcPct val="135000"/>
              </a:lnSpc>
            </a:pPr>
            <a:r>
              <a:rPr sz="1200" b="1" i="0">
                <a:solidFill>
                  <a:srgbClr val="C0392B"/>
                </a:solidFill>
                <a:latin typeface="맑은 고딕"/>
              </a:rPr>
              <a:t>가드레일은 템플릿이지 법률 자문이 아닙니다.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④ 안전 · 비용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어디서 돈이 나가나 — 과금 지점 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20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417320"/>
          <a:ext cx="111556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3108960"/>
                <a:gridCol w="4206240"/>
              </a:tblGrid>
              <a:tr h="621792"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지점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비용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방어선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LLM 초안·감사·추천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선택한 벤더 요금제 종량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필요한 호출만 — 실패는 재시도 전 확인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경쟁도 조사 (API HUB)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유료 종량 (유일한 네이버 과금점)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앱 일일 상한 기본 500회 + NCP 콘솔 알림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검색량·연관키워드 (검색광고)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무료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없음 — 몇 번을 눌러도 과금 0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뉴스·게시·사진 재사용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무료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사진 캐시로 재분석 토큰 0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02920" y="4754880"/>
            <a:ext cx="11155680" cy="1280160"/>
          </a:xfrm>
          <a:prstGeom prst="rect">
            <a:avLst/>
          </a:prstGeom>
          <a:solidFill>
            <a:srgbClr val="E4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892040"/>
            <a:ext cx="10607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2F6B7A"/>
                </a:solidFill>
                <a:latin typeface="맑은 고딕"/>
              </a:rPr>
              <a:t>⚙️ 설정 → 📈 사용량 탭에서 실제 usage(프로바이더 응답값) 기준으로 쓴 만큼만 확인됩니다. 네이버 호출 수·남은 호출·캐시 현황은 🔍 네이버 API 탭의 통계 카드에서 봅니다.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④ 안전 · 주의사항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함정 모음 — 먼저 알면 안 헷갈립니다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21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17320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417320"/>
            <a:ext cx="109728" cy="98755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490472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비밀번호 칸이 비어 보여도 저장된 게 맞다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856232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보안상 키는 절대 다시 보여주지 않습니다. '✅ 등록됨 ****뒷4자리 · 저장 시각' 배지로 확인하세요.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496312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496312"/>
            <a:ext cx="109728" cy="98755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569464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키 없이 눌렀을 때 증상 3종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935224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'기본 생성 모델이 지정되지 않았습니다'(🪄 추천) · [1~4단계]·[숫자만 새로 재기] 버튼 잠김 · 경쟁도 만료 경고 — 모두 키 등록으로 해결.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575304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575304"/>
            <a:ext cx="109728" cy="98755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648456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만료는 조용히 일어난다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014216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에러 없이 전환 가중치만 꺼집니다. '경쟁도 측정 만료' 문구가 보이면 [숫자만 새로 재기].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654296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4654296"/>
            <a:ext cx="109728" cy="98755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727448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[발행]은 사람이 직접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093208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자동으로 발행까지 가지 않는 것은 고장이 아니라 네이버 차단 회피 설계입니다.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5733288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5733288"/>
            <a:ext cx="109728" cy="98755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5806440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data/ 폴더를 함부로 지우지 말기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6172200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DB·사진·마스터키가 전부 안에 있습니다. 브랜드 킷을 처음부터 다시 채울 때만 삭제 후 재시작하세요.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④ 안전 · FAQ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자주 묻는 질문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22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17320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90472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2A44"/>
                </a:solidFill>
                <a:latin typeface="맑은 고딕"/>
              </a:rPr>
              <a:t>Q. [🪄 브랜드에서 추천]이 실패해요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87452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3262B"/>
                </a:solidFill>
                <a:latin typeface="맑은 고딕"/>
              </a:rPr>
              <a:t>A. '추천 실패: ...' 뒤의 메시지가 원인입니다. 대부분 LLM 미등록 → LLM 탭에서 키 등록 후 기본 모델 확인.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478024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551176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2A44"/>
                </a:solidFill>
                <a:latin typeface="맑은 고딕"/>
              </a:rPr>
              <a:t>Q. 키를 저장했는데 칸이 비어 있어요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35224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3262B"/>
                </a:solidFill>
                <a:latin typeface="맑은 고딕"/>
              </a:rPr>
              <a:t>A. 정상입니다. 배지(✅ 등록됨 ****...)로 확인하세요. 바꾸려면 새 키 입력 후 다시 [연결 테스트 · 저장].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538728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6118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2A44"/>
                </a:solidFill>
                <a:latin typeface="맑은 고딕"/>
              </a:rPr>
              <a:t>Q. 4단계 적용 후에 [숫자만 새로 재기]를 또 눌러야 하나요?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995928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3262B"/>
                </a:solidFill>
                <a:latin typeface="맑은 고딕"/>
              </a:rPr>
              <a:t>A. 아니요. 4단계 [적용]이 곧 SEO 키워드 교체이고, 새 키워드 측정까지 같이 끝냅니다. 숫자 재기는 30일 뒤 만료 경고가 뜰 때만.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599432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72584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2A44"/>
                </a:solidFill>
                <a:latin typeface="맑은 고딕"/>
              </a:rPr>
              <a:t>Q. 경쟁도 만료 경고가 떠요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056632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3262B"/>
                </a:solidFill>
                <a:latin typeface="맑은 고딕"/>
              </a:rPr>
              <a:t>A. [🔄 숫자만 새로 재기]를 누르세요. 캐시가 살아있는 값은 재과금되지 않습니다.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660136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5733288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2A44"/>
                </a:solidFill>
                <a:latin typeface="맑은 고딕"/>
              </a:rPr>
              <a:t>Q. 브랜드 킷을 고쳤는데 앱에 안 바껴요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117336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3262B"/>
                </a:solidFill>
                <a:latin typeface="맑은 고딕"/>
              </a:rPr>
              <a:t>A. 킷 값은 [킷 저장], 계정·금기어는 [회사 공통 저장]을 눌렀는지, 워크벤치에서 그 킷을 골랐는지 확인하세요. 저장은 다음 생성부터 반영됩니다.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227"/>
                </a:solidFill>
                <a:latin typeface="맑은 고딕"/>
              </a:rPr>
              <a:t>더 알아보기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6060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FFFFFF"/>
                </a:solidFill>
                <a:latin typeface="맑은 고딕"/>
              </a:rPr>
              <a:t>참고 문서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57600"/>
            <a:ext cx="102412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500" b="0">
                <a:solidFill>
                  <a:srgbClr val="F5EDD7"/>
                </a:solidFill>
                <a:latin typeface="맑은 고딕"/>
              </a:rPr>
              <a:t>▪ README.md — 아키텍처와 설계 이유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500" b="0">
                <a:solidFill>
                  <a:srgbClr val="F5EDD7"/>
                </a:solidFill>
                <a:latin typeface="맑은 고딕"/>
              </a:rPr>
              <a:t>▪ HANDOFF.md — 구축 보고 (앱 📋 구축 보고서 페이지에서도 열람)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500" b="0">
                <a:solidFill>
                  <a:srgbClr val="F5EDD7"/>
                </a:solidFill>
                <a:latin typeface="맑은 고딕"/>
              </a:rPr>
              <a:t>▪ 문의: 씨제이씨협동조합 02-6396-3388 · cjc@cjccoop.com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